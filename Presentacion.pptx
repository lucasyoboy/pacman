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82E3-6B2A-EDBC-B822-848B301EE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AFBEB-DC3C-8797-CC67-C157DFC05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AB236-D5B9-F99B-2D0D-1EF8B6CE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9D47-0905-49B1-B83C-A7C3492E0EE9}" type="datetimeFigureOut">
              <a:rPr lang="es-PY" smtClean="0"/>
              <a:t>25/6/2026</a:t>
            </a:fld>
            <a:endParaRPr lang="es-P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5864C-0999-C492-8371-1F6C153B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D2398-D779-EDE5-605E-61E3E277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2B-1082-4C16-92DF-2F4BF18441A2}" type="slidenum">
              <a:rPr lang="es-PY" smtClean="0"/>
              <a:t>‹#›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674919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A07C-528A-8BA8-D913-ECAABB529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E96B3-95A2-2CC4-D946-51B6F77ED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8F58F-4FE3-7ABD-E446-47F82CA6B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9D47-0905-49B1-B83C-A7C3492E0EE9}" type="datetimeFigureOut">
              <a:rPr lang="es-PY" smtClean="0"/>
              <a:t>25/6/2026</a:t>
            </a:fld>
            <a:endParaRPr lang="es-P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2E101-0760-C7EC-3110-23D13A0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20F0-AC9F-C2DD-0575-3A47FCB6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2B-1082-4C16-92DF-2F4BF18441A2}" type="slidenum">
              <a:rPr lang="es-PY" smtClean="0"/>
              <a:t>‹#›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94828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619A-5A3E-5D61-8A2E-2DB98C65F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7DDF3-F1C3-BD9F-1BA5-0A7AC861A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39680-8480-20C6-7089-D33D18D3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9D47-0905-49B1-B83C-A7C3492E0EE9}" type="datetimeFigureOut">
              <a:rPr lang="es-PY" smtClean="0"/>
              <a:t>25/6/2026</a:t>
            </a:fld>
            <a:endParaRPr lang="es-P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C0F8E-C288-35C9-0043-10A38AD08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39439-3ADE-7B21-C059-140311FE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2B-1082-4C16-92DF-2F4BF18441A2}" type="slidenum">
              <a:rPr lang="es-PY" smtClean="0"/>
              <a:t>‹#›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123502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B6D1-74B7-CFAF-3675-191B2A92C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A1BFA-7077-22B0-0CDE-50337C107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83CD3-A233-AE61-9AA2-62236478B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D08BC-01A9-90F0-E958-FB50BA28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9D47-0905-49B1-B83C-A7C3492E0EE9}" type="datetimeFigureOut">
              <a:rPr lang="es-PY" smtClean="0"/>
              <a:t>25/6/2026</a:t>
            </a:fld>
            <a:endParaRPr lang="es-P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44AB1-20ED-E4E1-691A-6D6B6421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875F0-CA0B-20DB-55A9-43EFFD1B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2B-1082-4C16-92DF-2F4BF18441A2}" type="slidenum">
              <a:rPr lang="es-PY" smtClean="0"/>
              <a:t>‹#›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869545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A204E-9B3F-AE07-B354-54CB911A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D3ECD-1188-B798-27C8-33ED43CE8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703F-3A7C-F8E2-26CF-537843965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A3A20-9FDB-D62B-0400-5607BEECF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F29913-3C07-D82B-F9B8-EBDFB8259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CBBD03-9238-1BCD-E440-6E0C95E8C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9D47-0905-49B1-B83C-A7C3492E0EE9}" type="datetimeFigureOut">
              <a:rPr lang="es-PY" smtClean="0"/>
              <a:t>25/6/2026</a:t>
            </a:fld>
            <a:endParaRPr lang="es-P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28D56-B3FD-61F4-AF1C-E7F596AD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9801B0-AD57-EE3B-C104-047FFD33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2B-1082-4C16-92DF-2F4BF18441A2}" type="slidenum">
              <a:rPr lang="es-PY" smtClean="0"/>
              <a:t>‹#›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37232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FAEA-989E-6A9B-8982-A68F854D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D91DBA-1711-55B8-B74A-B465534A2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9D47-0905-49B1-B83C-A7C3492E0EE9}" type="datetimeFigureOut">
              <a:rPr lang="es-PY" smtClean="0"/>
              <a:t>25/6/2026</a:t>
            </a:fld>
            <a:endParaRPr lang="es-P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B3745-9F51-B5BB-C77D-1650DE796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6957E-0AFB-5478-CE08-A2555AC1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2B-1082-4C16-92DF-2F4BF18441A2}" type="slidenum">
              <a:rPr lang="es-PY" smtClean="0"/>
              <a:t>‹#›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28691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57E15-CA0D-DCB4-0445-68400E79C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9D47-0905-49B1-B83C-A7C3492E0EE9}" type="datetimeFigureOut">
              <a:rPr lang="es-PY" smtClean="0"/>
              <a:t>25/6/2026</a:t>
            </a:fld>
            <a:endParaRPr lang="es-P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F74CE-102C-FC00-3273-F51ABD6B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3E666-C118-EEF4-124C-A9C0694A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2B-1082-4C16-92DF-2F4BF18441A2}" type="slidenum">
              <a:rPr lang="es-PY" smtClean="0"/>
              <a:t>‹#›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936396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6F6F-DE2E-51F1-9DC7-BCADBEB95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9943-A746-7F76-7344-0238144E3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D5A93-98D8-7919-2BCB-667AD594C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ED2BD-5987-D4BC-F822-0FBD132B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9D47-0905-49B1-B83C-A7C3492E0EE9}" type="datetimeFigureOut">
              <a:rPr lang="es-PY" smtClean="0"/>
              <a:t>25/6/2026</a:t>
            </a:fld>
            <a:endParaRPr lang="es-P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CAC5A-1ED0-09A6-598A-01B7E49B9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50DB1-ABE1-9A6A-604F-4DBF722F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2B-1082-4C16-92DF-2F4BF18441A2}" type="slidenum">
              <a:rPr lang="es-PY" smtClean="0"/>
              <a:t>‹#›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03342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354-944E-2829-A2CD-70A5EC590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B7173E-50E2-2160-0F6B-4B6815DDB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8A277-41FA-0545-95C5-FDBA796AC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65480-8FB1-E08D-8F0A-C7A0F0AC1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9D47-0905-49B1-B83C-A7C3492E0EE9}" type="datetimeFigureOut">
              <a:rPr lang="es-PY" smtClean="0"/>
              <a:t>25/6/2026</a:t>
            </a:fld>
            <a:endParaRPr lang="es-P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2D140-857B-8FF7-E22A-E9B7057B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E900C-685C-6F5B-80C3-C0441B97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2B-1082-4C16-92DF-2F4BF18441A2}" type="slidenum">
              <a:rPr lang="es-PY" smtClean="0"/>
              <a:t>‹#›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420045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19C4-D1C2-BDE9-305C-8D9323CF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04A59-A07F-6CA3-D514-C7F75FA69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BE93-7872-AC94-62DF-C1359D0D3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9D47-0905-49B1-B83C-A7C3492E0EE9}" type="datetimeFigureOut">
              <a:rPr lang="es-PY" smtClean="0"/>
              <a:t>25/6/2026</a:t>
            </a:fld>
            <a:endParaRPr lang="es-P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84F6F-FE09-3CE1-90FD-37DD01D4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8A190-9FF1-7EBB-2167-2B163A4C0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2B-1082-4C16-92DF-2F4BF18441A2}" type="slidenum">
              <a:rPr lang="es-PY" smtClean="0"/>
              <a:t>‹#›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502819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15A2A8-08FB-3B0F-4776-F2257DFA9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0C089-F810-440C-C20D-0575ABC23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1FB12-3092-5B3C-9C16-69C144A01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9D47-0905-49B1-B83C-A7C3492E0EE9}" type="datetimeFigureOut">
              <a:rPr lang="es-PY" smtClean="0"/>
              <a:t>25/6/2026</a:t>
            </a:fld>
            <a:endParaRPr lang="es-P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53763-8761-A240-016A-E04F45B9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EA766-53BA-C298-258B-17E9C700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2B-1082-4C16-92DF-2F4BF18441A2}" type="slidenum">
              <a:rPr lang="es-PY" smtClean="0"/>
              <a:t>‹#›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68714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A41B83-D84E-0F18-6E8E-3AF4FDC38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E98D2-0FB9-DFF8-A6AD-4530E394F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96131-C000-F91A-93C6-315122C7F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B9D47-0905-49B1-B83C-A7C3492E0EE9}" type="datetimeFigureOut">
              <a:rPr lang="es-PY" smtClean="0"/>
              <a:t>25/6/2026</a:t>
            </a:fld>
            <a:endParaRPr lang="es-P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F3CED-7836-5EEF-0EB5-CB5E9ABA7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29A35-828E-2C03-09B9-13E3D1680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A692B-1082-4C16-92DF-2F4BF18441A2}" type="slidenum">
              <a:rPr lang="es-PY" smtClean="0"/>
              <a:t>‹#›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669912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90EEE-C5EC-8644-C195-FCCA3E01F2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6293" r="-1" b="2219"/>
          <a:stretch>
            <a:fillRect/>
          </a:stretch>
        </p:blipFill>
        <p:spPr>
          <a:xfrm>
            <a:off x="20" y="10"/>
            <a:ext cx="1218893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BC4684-1E9D-C016-43EA-EA791F7A5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 noProof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QUORIDOR PAC-MAN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5986D-429C-ACC0-81A0-85B5C2238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227520"/>
          </a:xfrm>
        </p:spPr>
        <p:txBody>
          <a:bodyPr>
            <a:normAutofit/>
          </a:bodyPr>
          <a:lstStyle/>
          <a:p>
            <a:r>
              <a:rPr lang="en-US" noProof="1">
                <a:solidFill>
                  <a:schemeClr val="bg1"/>
                </a:solidFill>
              </a:rPr>
              <a:t>Presentado por Lucas Heidebrecht</a:t>
            </a:r>
          </a:p>
        </p:txBody>
      </p:sp>
      <p:sp>
        <p:nvSpPr>
          <p:cNvPr id="22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977415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4C9A2-DD58-ED29-F04F-40BB21B7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Tabla de Contenido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EB721-9FAC-2994-1215-C2F388EF7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1">
                <a:latin typeface="Abadi" panose="020F0502020204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Componentes y Datos</a:t>
            </a:r>
          </a:p>
          <a:p>
            <a:r>
              <a:rPr lang="en-US" noProof="1">
                <a:latin typeface="Abadi" panose="020F0502020204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Lógica del Juego</a:t>
            </a:r>
          </a:p>
          <a:p>
            <a:r>
              <a:rPr lang="en-US" noProof="1">
                <a:latin typeface="Abadi" panose="020F0502020204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Gestión de Muros</a:t>
            </a:r>
          </a:p>
          <a:p>
            <a:r>
              <a:rPr lang="en-US" noProof="1">
                <a:latin typeface="Abadi" panose="020F0502020204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Inteligencia Artificial</a:t>
            </a:r>
          </a:p>
          <a:p>
            <a:r>
              <a:rPr lang="en-US" noProof="1">
                <a:latin typeface="Abadi" panose="020F0502020204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Interfaz y Visualización</a:t>
            </a:r>
          </a:p>
          <a:p>
            <a:r>
              <a:rPr lang="en-US" noProof="1">
                <a:latin typeface="Abadi" panose="020F0502020204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Mapas y Persistencia</a:t>
            </a:r>
          </a:p>
          <a:p>
            <a:r>
              <a:rPr lang="en-US" noProof="1">
                <a:latin typeface="Abadi" panose="020F0502020204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Control de Entrada</a:t>
            </a:r>
          </a:p>
        </p:txBody>
      </p:sp>
    </p:spTree>
    <p:extLst>
      <p:ext uri="{BB962C8B-B14F-4D97-AF65-F5344CB8AC3E}">
        <p14:creationId xmlns:p14="http://schemas.microsoft.com/office/powerpoint/2010/main" val="376869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D53A9-BC2C-FC58-C551-2BD3B036B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57AE-EC42-8B86-59FF-54A4ED31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Componentes y Datos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28B18-3C83-69D2-A9CD-863021597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5092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Estructuras</a:t>
            </a:r>
            <a:endParaRPr lang="en-US" sz="3200" noProof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endParaRPr lang="en-US" noProof="1">
              <a:latin typeface="Abadi" panose="020B0604020104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5ABF3E-4BE5-F81E-46C4-0E9BD0BAEE55}"/>
              </a:ext>
            </a:extLst>
          </p:cNvPr>
          <p:cNvSpPr txBox="1">
            <a:spLocks/>
          </p:cNvSpPr>
          <p:nvPr/>
        </p:nvSpPr>
        <p:spPr>
          <a:xfrm>
            <a:off x="838200" y="2334882"/>
            <a:ext cx="5487838" cy="4238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STRUCT</a:t>
            </a:r>
            <a:r>
              <a:rPr lang="en-US" sz="2000" noProof="1">
                <a:latin typeface="Abadi" panose="020B0604020104020204" pitchFamily="34" charset="0"/>
              </a:rPr>
              <a:t> Pacaman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STRUCT</a:t>
            </a:r>
            <a:r>
              <a:rPr lang="en-US" sz="2000" noProof="1">
                <a:latin typeface="Abadi" panose="020B0604020104020204" pitchFamily="34" charset="0"/>
              </a:rPr>
              <a:t> Ghost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STRUCT </a:t>
            </a:r>
            <a:r>
              <a:rPr lang="en-US" sz="2000" noProof="1">
                <a:latin typeface="Abadi" panose="020B0604020104020204" pitchFamily="34" charset="0"/>
              </a:rPr>
              <a:t>PacBall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STRUCT </a:t>
            </a:r>
            <a:r>
              <a:rPr lang="en-US" sz="2000" noProof="1">
                <a:latin typeface="Abadi" panose="020B0604020104020204" pitchFamily="34" charset="0"/>
              </a:rPr>
              <a:t>Wall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STRUCT </a:t>
            </a:r>
            <a:r>
              <a:rPr lang="en-US" sz="2000" noProof="1">
                <a:latin typeface="Abadi" panose="020B0604020104020204" pitchFamily="34" charset="0"/>
              </a:rPr>
              <a:t>Board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STRUCT </a:t>
            </a:r>
            <a:r>
              <a:rPr lang="en-US" sz="2000" noProof="1">
                <a:latin typeface="Abadi" panose="020B0604020104020204" pitchFamily="34" charset="0"/>
              </a:rPr>
              <a:t>MapData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STRUCT </a:t>
            </a:r>
            <a:r>
              <a:rPr lang="en-US" sz="2000" noProof="1">
                <a:latin typeface="Abadi" panose="020B0604020104020204" pitchFamily="34" charset="0"/>
              </a:rPr>
              <a:t>GameConfig</a:t>
            </a:r>
          </a:p>
          <a:p>
            <a:pPr>
              <a:lnSpc>
                <a:spcPct val="100000"/>
              </a:lnSpc>
            </a:pPr>
            <a:r>
              <a:rPr lang="en-US" sz="2000" b="1" u="sng" noProof="1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0000"/>
                </a:highlight>
                <a:latin typeface="Abadi" panose="020B0604020104020204" pitchFamily="34" charset="0"/>
              </a:rPr>
              <a:t>STRUCT </a:t>
            </a:r>
            <a:r>
              <a:rPr lang="en-US" sz="2000" u="sng" noProof="1">
                <a:highlight>
                  <a:srgbClr val="FF0000"/>
                </a:highlight>
                <a:latin typeface="Abadi" panose="020B0604020104020204" pitchFamily="34" charset="0"/>
              </a:rPr>
              <a:t>GameState </a:t>
            </a:r>
            <a:r>
              <a:rPr lang="en-US" sz="2000" noProof="1"/>
              <a:t>⬅</a:t>
            </a:r>
            <a:r>
              <a:rPr lang="en-US" sz="2000" noProof="1">
                <a:latin typeface="Abadi" panose="020B0604020104020204" pitchFamily="34" charset="0"/>
              </a:rPr>
              <a:t> Mas Importante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7485A0-D2A2-2DF1-7143-CC6E00659281}"/>
              </a:ext>
            </a:extLst>
          </p:cNvPr>
          <p:cNvSpPr txBox="1">
            <a:spLocks/>
          </p:cNvSpPr>
          <p:nvPr/>
        </p:nvSpPr>
        <p:spPr>
          <a:xfrm>
            <a:off x="6326038" y="1825625"/>
            <a:ext cx="5257800" cy="509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noProof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Datos</a:t>
            </a:r>
            <a:endParaRPr lang="en-US" sz="3200" noProof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noProof="1">
              <a:latin typeface="Abadi" panose="020B06040201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40E321C-5751-F384-DCD0-653A8551FF83}"/>
              </a:ext>
            </a:extLst>
          </p:cNvPr>
          <p:cNvSpPr txBox="1">
            <a:spLocks/>
          </p:cNvSpPr>
          <p:nvPr/>
        </p:nvSpPr>
        <p:spPr>
          <a:xfrm>
            <a:off x="6326038" y="2334881"/>
            <a:ext cx="5487838" cy="4238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2000" noProof="1">
              <a:latin typeface="Abadi" panose="020B0604020104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C9E037F-CE01-13CF-C768-08F864694511}"/>
              </a:ext>
            </a:extLst>
          </p:cNvPr>
          <p:cNvSpPr txBox="1">
            <a:spLocks/>
          </p:cNvSpPr>
          <p:nvPr/>
        </p:nvSpPr>
        <p:spPr>
          <a:xfrm>
            <a:off x="6326038" y="2334880"/>
            <a:ext cx="5487838" cy="4238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ENUM</a:t>
            </a:r>
            <a:r>
              <a:rPr lang="en-US" sz="2000" noProof="1">
                <a:latin typeface="Abadi" panose="020B0604020104020204" pitchFamily="34" charset="0"/>
              </a:rPr>
              <a:t> WallType</a:t>
            </a:r>
          </a:p>
          <a:p>
            <a:pPr>
              <a:lnSpc>
                <a:spcPct val="100000"/>
              </a:lnSpc>
            </a:pPr>
            <a:r>
              <a:rPr lang="en-US" sz="2000" noProof="1">
                <a:latin typeface="Abadi" panose="020B0604020104020204" pitchFamily="34" charset="0"/>
              </a:rPr>
              <a:t>Fantasmas</a:t>
            </a:r>
          </a:p>
          <a:p>
            <a:pPr>
              <a:lnSpc>
                <a:spcPct val="100000"/>
              </a:lnSpc>
            </a:pPr>
            <a:r>
              <a:rPr lang="en-US" sz="2000" noProof="1">
                <a:latin typeface="Abadi" panose="020B0604020104020204" pitchFamily="34" charset="0"/>
              </a:rPr>
              <a:t>Direcciones de Movimiento</a:t>
            </a:r>
          </a:p>
          <a:p>
            <a:pPr>
              <a:lnSpc>
                <a:spcPct val="100000"/>
              </a:lnSpc>
            </a:pPr>
            <a:r>
              <a:rPr lang="en-US" sz="2000" noProof="1">
                <a:latin typeface="Abadi" panose="020B0604020104020204" pitchFamily="34" charset="0"/>
              </a:rPr>
              <a:t>Tamaño máximo del tablero</a:t>
            </a:r>
          </a:p>
          <a:p>
            <a:pPr>
              <a:lnSpc>
                <a:spcPct val="100000"/>
              </a:lnSpc>
            </a:pPr>
            <a:r>
              <a:rPr lang="en-US" sz="2000" noProof="1">
                <a:latin typeface="Abadi" panose="020B0604020104020204" pitchFamily="34" charset="0"/>
              </a:rPr>
              <a:t>Pantallas posibles</a:t>
            </a:r>
          </a:p>
          <a:p>
            <a:pPr>
              <a:lnSpc>
                <a:spcPct val="100000"/>
              </a:lnSpc>
            </a:pPr>
            <a:r>
              <a:rPr lang="en-US" sz="2000" noProof="1">
                <a:latin typeface="Abadi" panose="020B0604020104020204" pitchFamily="34" charset="0"/>
              </a:rPr>
              <a:t>Turno de Jugada</a:t>
            </a:r>
          </a:p>
          <a:p>
            <a:pPr>
              <a:lnSpc>
                <a:spcPct val="100000"/>
              </a:lnSpc>
            </a:pPr>
            <a:r>
              <a:rPr lang="en-US" sz="2000" noProof="1">
                <a:latin typeface="Abadi" panose="020B0604020104020204" pitchFamily="34" charset="0"/>
              </a:rPr>
              <a:t>Modos de input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DEFINE</a:t>
            </a:r>
            <a:r>
              <a:rPr lang="en-US" sz="2000" noProof="1">
                <a:latin typeface="Abadi" panose="020B0604020104020204" pitchFamily="34" charset="0"/>
              </a:rPr>
              <a:t> MAP_NAME_LEN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DEFINE </a:t>
            </a:r>
            <a:r>
              <a:rPr lang="en-US" sz="2000" noProof="1">
                <a:latin typeface="Abadi" panose="020B0604020104020204" pitchFamily="34" charset="0"/>
              </a:rPr>
              <a:t>MAX_PERM_WALLS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DEFINE </a:t>
            </a:r>
            <a:r>
              <a:rPr lang="en-US" sz="2000" noProof="1">
                <a:latin typeface="Abadi" panose="020B0604020104020204" pitchFamily="34" charset="0"/>
              </a:rPr>
              <a:t>MAX_EXPIRED_WALLS</a:t>
            </a:r>
          </a:p>
        </p:txBody>
      </p:sp>
    </p:spTree>
    <p:extLst>
      <p:ext uri="{BB962C8B-B14F-4D97-AF65-F5344CB8AC3E}">
        <p14:creationId xmlns:p14="http://schemas.microsoft.com/office/powerpoint/2010/main" val="173738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E5E42-4AB1-A575-39E5-9F579053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22EDC-04DD-1A00-628B-62CF04F4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Lógica del Juego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FB549C-8135-952D-6CF8-9F86FFB222E2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51673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game_movePacman()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noProof="1">
                <a:latin typeface="Abadi" panose="020B0604020104020204" pitchFamily="34" charset="0"/>
              </a:rPr>
              <a:t>Mueve 1 casilla si hay acción y no hay muro; gasta acción y revisa bola/captura.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game_moveGhost()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noProof="1">
                <a:latin typeface="Abadi" panose="020B0604020104020204" pitchFamily="34" charset="0"/>
              </a:rPr>
              <a:t>Mueve el fantasma; 2 casillas si está en modo frenético (línea de vista a Pac-Man).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_checkPacBall 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noProof="1">
                <a:latin typeface="Abadi" panose="020B0604020104020204" pitchFamily="34" charset="0"/>
              </a:rPr>
              <a:t>Come la bola: +1 acción extra, power-up activo y chequea victoria (4 bolas).</a:t>
            </a:r>
          </a:p>
          <a:p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_checkCapture()  </a:t>
            </a:r>
          </a:p>
          <a:p>
            <a:pPr marL="0" indent="0">
              <a:buNone/>
            </a:pPr>
            <a:r>
              <a:rPr lang="en-US" sz="2000" noProof="1">
                <a:latin typeface="Abadi" panose="020B0604020104020204" pitchFamily="34" charset="0"/>
              </a:rPr>
              <a:t>Si comparte casilla con fantasma: lo come (con power-up) o pierde vida y resetea posiciones.</a:t>
            </a:r>
          </a:p>
          <a:p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game_endPacmanTurn()  </a:t>
            </a:r>
          </a:p>
          <a:p>
            <a:pPr marL="0" indent="0">
              <a:buNone/>
            </a:pPr>
            <a:r>
              <a:rPr lang="en-US" sz="2000" noProof="1">
                <a:latin typeface="Abadi" panose="020B0604020104020204" pitchFamily="34" charset="0"/>
              </a:rPr>
              <a:t>Tick de muros, apaga power-up y pasa al primer fantasma habilitado y vivo.</a:t>
            </a:r>
          </a:p>
          <a:p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game_endGhostTurn()  </a:t>
            </a:r>
            <a:endParaRPr lang="en-US" sz="2000" noProof="1"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noProof="1">
                <a:latin typeface="Abadi" panose="020B0604020104020204" pitchFamily="34" charset="0"/>
              </a:rPr>
              <a:t>Avanza al siguiente fantasma; si jugaron todos, vuelve a Pac-Man y suma ronda globa</a:t>
            </a:r>
          </a:p>
        </p:txBody>
      </p:sp>
    </p:spTree>
    <p:extLst>
      <p:ext uri="{BB962C8B-B14F-4D97-AF65-F5344CB8AC3E}">
        <p14:creationId xmlns:p14="http://schemas.microsoft.com/office/powerpoint/2010/main" val="1011934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CF658-A4AF-1569-37B9-3EE90F19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34F43-AFBF-F07E-4652-E65D209CF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493"/>
            <a:ext cx="10515600" cy="1325563"/>
          </a:xfrm>
        </p:spPr>
        <p:txBody>
          <a:bodyPr/>
          <a:lstStyle/>
          <a:p>
            <a:r>
              <a:rPr lang="en-US" noProof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Gestión de Muros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52C112-5187-62CB-2A23-94A54A92B1CF}"/>
              </a:ext>
            </a:extLst>
          </p:cNvPr>
          <p:cNvSpPr txBox="1">
            <a:spLocks/>
          </p:cNvSpPr>
          <p:nvPr/>
        </p:nvSpPr>
        <p:spPr>
          <a:xfrm>
            <a:off x="838200" y="1259639"/>
            <a:ext cx="10515600" cy="5473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board_placeWall()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Coloca el muro si el lado es válido y está libre; rechaza si ya hay otro (evita descuadrar la mano).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board_canMove()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¿Se puede mover en esa dirección? Chequea borde del tablero y ausencia de muro.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board_tickWalls()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noProof="1">
                <a:latin typeface="Abadi" panose="020B0604020104020204" pitchFamily="34" charset="0"/>
              </a:rPr>
              <a:t> Resta 1 turno a cada muro temporal; al llegar a 0 lo borra y anota su owner.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game_tickWalls()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Usa lo anterior y devuelve cada muro expirado a la mano del equipo correcto.</a:t>
            </a:r>
            <a:r>
              <a:rPr lang="en-US" sz="2000" noProof="1">
                <a:latin typeface="Abadi" panose="020B0604020104020204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game_pacmanPlaceWall()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Pac-Man gasta 1 de sus 2 acciones para colocar; descuenta de su mano</a:t>
            </a:r>
            <a:endParaRPr lang="en-US" sz="2000" noProof="1"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game_ghostPlaceWall()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El fantasma usa TODO su turno; la mano de muros es compartida por el equipo.</a:t>
            </a:r>
            <a:endParaRPr lang="en-US" sz="2000" noProof="1"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endParaRPr lang="es-ES" sz="2000" noProof="1"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s-ES" sz="2000" noProof="1"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noProof="1">
              <a:solidFill>
                <a:schemeClr val="tx2">
                  <a:lumMod val="50000"/>
                  <a:lumOff val="50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281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02425-2DE6-411C-9641-53A2DDD3F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C661-44DC-CAAF-C4B6-7F3BA7C0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Inteligencia Artificial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E6154A-04EF-86EC-BE36-4674F8C8515F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51673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INT </a:t>
            </a:r>
            <a:r>
              <a:rPr lang="en-US" sz="2000" noProof="1">
                <a:latin typeface="Abadi" panose="020B0604020104020204" pitchFamily="34" charset="0"/>
              </a:rPr>
              <a:t>ai_findBestMove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Funciona en 3 pasos: calcular ruta (BFS) → aplicar dificultad → extras del modo difícil</a:t>
            </a:r>
            <a:br>
              <a:rPr lang="es-ES" sz="2000" noProof="1">
                <a:latin typeface="Abadi" panose="020B0604020104020204" pitchFamily="34" charset="0"/>
              </a:rPr>
            </a:br>
            <a:r>
              <a:rPr lang="es-ES" sz="2000" noProof="1">
                <a:latin typeface="Abadi" panose="020B0604020104020204" pitchFamily="34" charset="0"/>
              </a:rPr>
              <a:t>Tira rand() % 100 y lo compara con un umbral</a:t>
            </a:r>
            <a:br>
              <a:rPr lang="es-ES" sz="2000" noProof="1">
                <a:latin typeface="Abadi" panose="020B0604020104020204" pitchFamily="34" charset="0"/>
              </a:rPr>
            </a:br>
            <a:r>
              <a:rPr lang="es-ES" sz="2000" noProof="1">
                <a:latin typeface="Abadi" panose="020B0604020104020204" pitchFamily="34" charset="0"/>
              </a:rPr>
              <a:t>Fácil → 30% usa BFS, resto aleatorio (_randomDir)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Medio → 60% óptimo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Difícil → 100% óptimo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_shouldUseWall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noProof="1">
                <a:latin typeface="Abadi" panose="020B0604020104020204" pitchFamily="34" charset="0"/>
              </a:rPr>
              <a:t>Si tiene muros y ve a Pac-Man en recta → coloca muro para bloquear (gasta el turno)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board_lineOfSight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noProof="1">
                <a:latin typeface="Abadi" panose="020B0604020104020204" pitchFamily="34" charset="0"/>
              </a:rPr>
              <a:t>Usa para chequear la línea de vista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noProof="1">
                <a:latin typeface="Abadi" panose="020B0604020104020204" pitchFamily="34" charset="0"/>
              </a:rPr>
              <a:t>Modo frenético (</a:t>
            </a: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game_moveGhost): si ve a Pac-Man en recta al moverse → avanza 2 casillas</a:t>
            </a:r>
          </a:p>
        </p:txBody>
      </p:sp>
    </p:spTree>
    <p:extLst>
      <p:ext uri="{BB962C8B-B14F-4D97-AF65-F5344CB8AC3E}">
        <p14:creationId xmlns:p14="http://schemas.microsoft.com/office/powerpoint/2010/main" val="312817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9569C-24CC-15CB-8BBE-C02FEC25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9992-D1FA-66E0-B18C-76A610F9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494"/>
            <a:ext cx="10515600" cy="1325563"/>
          </a:xfrm>
        </p:spPr>
        <p:txBody>
          <a:bodyPr/>
          <a:lstStyle/>
          <a:p>
            <a:r>
              <a:rPr lang="en-US" noProof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Interfaz y Visualizacion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104E3C-8F28-B289-9913-0FB4ACFE0963}"/>
              </a:ext>
            </a:extLst>
          </p:cNvPr>
          <p:cNvSpPr txBox="1">
            <a:spLocks/>
          </p:cNvSpPr>
          <p:nvPr/>
        </p:nvSpPr>
        <p:spPr>
          <a:xfrm>
            <a:off x="838200" y="1155032"/>
            <a:ext cx="10515600" cy="5702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noProof="1">
                <a:latin typeface="Abadi" panose="020B0604020104020204" pitchFamily="34" charset="0"/>
              </a:rPr>
              <a:t>Una function render por pantalla (6) mas helerps de ayuda.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VOID </a:t>
            </a:r>
            <a:r>
              <a:rPr lang="en-US" sz="2000" noProof="1">
                <a:latin typeface="Abadi" panose="020B0604020104020204" pitchFamily="34" charset="0"/>
              </a:rPr>
              <a:t>render_game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noProof="1">
                <a:latin typeface="Abadi" panose="020B0604020104020204" pitchFamily="34" charset="0"/>
              </a:rPr>
              <a:t>Compone la partida: tablero, cursor de muro, entidades y HUD lateral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VOID </a:t>
            </a:r>
            <a:r>
              <a:rPr lang="en-US" sz="2000" noProof="1">
                <a:latin typeface="Abadi" panose="020B0604020104020204" pitchFamily="34" charset="0"/>
              </a:rPr>
              <a:t>_drawboard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Grilla + muros; los temporales se ven distintos (verde fino con contador) de los permanentes.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VOID </a:t>
            </a:r>
            <a:r>
              <a:rPr lang="en-US" sz="2000" noProof="1">
                <a:latin typeface="Abadi" panose="020B0604020104020204" pitchFamily="34" charset="0"/>
              </a:rPr>
              <a:t>_drawEntities()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Pac-Man (con boca), fantasmas con ojitos y pac-bolas, escalados al tamaño de celda.</a:t>
            </a:r>
            <a:endParaRPr lang="en-US" sz="2000" noProof="1"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VOID </a:t>
            </a:r>
            <a:r>
              <a:rPr lang="en-US" sz="2000" noProof="1">
                <a:latin typeface="Abadi" panose="020B0604020104020204" pitchFamily="34" charset="0"/>
              </a:rPr>
              <a:t>_drawHUD()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Panel: vidas, pac-bolas, muros por mano, de quién es el turno y acciones restantes.</a:t>
            </a:r>
            <a:endParaRPr lang="en-US" sz="2000" noProof="1"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noProof="1">
                <a:latin typeface="Abadi" panose="020B0604020104020204" pitchFamily="34" charset="0"/>
              </a:rPr>
              <a:t>render_editor / gameover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Vista del editor de mapas y pantalla final con ganador y nivel alcanzado.</a:t>
            </a:r>
            <a:endParaRPr lang="en-US" sz="2000" noProof="1"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noProof="1">
                <a:latin typeface="Abadi" panose="020B0604020104020204" pitchFamily="34" charset="0"/>
              </a:rPr>
              <a:t>render_menu / config / mapSelect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Pantallas de navegación: menú, configuración y selección de mapa.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noProof="1"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noProof="1"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noProof="1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062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F65B5-A42D-A717-995D-9783F5B28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1819-D8E1-A63A-4F08-638B77297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494"/>
            <a:ext cx="10515600" cy="1325563"/>
          </a:xfrm>
        </p:spPr>
        <p:txBody>
          <a:bodyPr/>
          <a:lstStyle/>
          <a:p>
            <a:r>
              <a:rPr lang="en-US" noProof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Mapas y Persistencia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491685-0CBA-2DD1-6F2C-7011ECFC6BB3}"/>
              </a:ext>
            </a:extLst>
          </p:cNvPr>
          <p:cNvSpPr txBox="1">
            <a:spLocks/>
          </p:cNvSpPr>
          <p:nvPr/>
        </p:nvSpPr>
        <p:spPr>
          <a:xfrm>
            <a:off x="838200" y="1155032"/>
            <a:ext cx="10515600" cy="5702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_map_load (</a:t>
            </a:r>
            <a:r>
              <a:rPr lang="en-US" sz="2000" dirty="0" err="1">
                <a:solidFill>
                  <a:srgbClr val="00E6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fopen</a:t>
            </a:r>
            <a:r>
              <a:rPr lang="en-US" sz="2000" dirty="0">
                <a:solidFill>
                  <a:srgbClr val="00E6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 err="1">
                <a:solidFill>
                  <a:srgbClr val="00E6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r>
              <a:rPr lang="en-US" sz="2000" dirty="0">
                <a:solidFill>
                  <a:srgbClr val="00E6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modo “r”</a:t>
            </a:r>
            <a:r>
              <a:rPr lang="en-US" sz="2000" noProof="1">
                <a:latin typeface="Abadi" panose="020B0604020104020204" pitchFamily="34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Lee tamaño, posiciones y muros permanentes; valida cada fscanf y cierra el archivo.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BOOL </a:t>
            </a:r>
            <a:r>
              <a:rPr lang="en-US" sz="2000" noProof="1">
                <a:latin typeface="Abadi" panose="020B0604020104020204" pitchFamily="34" charset="0"/>
              </a:rPr>
              <a:t>_map_load (</a:t>
            </a:r>
            <a:r>
              <a:rPr lang="en-US" sz="2000" dirty="0" err="1">
                <a:solidFill>
                  <a:srgbClr val="00E6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</a:t>
            </a:r>
            <a:r>
              <a:rPr lang="en-US" sz="2000" noProof="1">
                <a:latin typeface="Abadi" panose="020B0604020104020204" pitchFamily="34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Escribe el borrador del editor al formato .map para cargarlo después como un mapa más.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VOID </a:t>
            </a:r>
            <a:r>
              <a:rPr lang="en-US" sz="2000" noProof="1">
                <a:latin typeface="Abadi" panose="020B0604020104020204" pitchFamily="34" charset="0"/>
              </a:rPr>
              <a:t>map_apply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Copia los datos del mapa al estado real del juego (tablero, fichas, muros).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INT </a:t>
            </a:r>
            <a:r>
              <a:rPr lang="en-US" sz="2000" noProof="1">
                <a:latin typeface="Abadi" panose="020B0604020104020204" pitchFamily="34" charset="0"/>
              </a:rPr>
              <a:t>map_apply</a:t>
            </a:r>
            <a:br>
              <a:rPr lang="en-US" sz="2000" noProof="1">
                <a:latin typeface="Abadi" panose="020B0604020104020204" pitchFamily="34" charset="0"/>
              </a:rPr>
            </a:br>
            <a:r>
              <a:rPr lang="es-ES" sz="2000" noProof="1">
                <a:latin typeface="Abadi" panose="020B0604020104020204" pitchFamily="34" charset="0"/>
              </a:rPr>
              <a:t>Recorre la carpeta maps/ con opendir/readdir y junta los archivos .map disponibles.</a:t>
            </a:r>
            <a:endParaRPr lang="en-US" sz="2000" noProof="1"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noProof="1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006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0584D-CC73-1FBA-D9B7-BD7A70D08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24DF-3771-8127-C11D-B490DAA0F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494"/>
            <a:ext cx="10515600" cy="1325563"/>
          </a:xfrm>
        </p:spPr>
        <p:txBody>
          <a:bodyPr/>
          <a:lstStyle/>
          <a:p>
            <a:r>
              <a:rPr lang="en-US" noProof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Control de Entrada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0898E1-8DFF-4F07-6223-A67A65889791}"/>
              </a:ext>
            </a:extLst>
          </p:cNvPr>
          <p:cNvSpPr txBox="1">
            <a:spLocks/>
          </p:cNvSpPr>
          <p:nvPr/>
        </p:nvSpPr>
        <p:spPr>
          <a:xfrm>
            <a:off x="838200" y="1450057"/>
            <a:ext cx="10515600" cy="5283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VOID </a:t>
            </a:r>
            <a:r>
              <a:rPr lang="en-US" sz="2000" noProof="1">
                <a:latin typeface="Abadi" panose="020B0604020104020204" pitchFamily="34" charset="0"/>
              </a:rPr>
              <a:t>input_game()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Ruteo del turno: Pac-Man con flechas/M/Enter; fantasmas vía IA o jugador 2 según el modo.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VOID </a:t>
            </a:r>
            <a:r>
              <a:rPr lang="es-ES" sz="2000" noProof="1">
                <a:latin typeface="Abadi" panose="020B0604020104020204" pitchFamily="34" charset="0"/>
              </a:rPr>
              <a:t>_handleWallCursorInput() \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Modo muro de Pac-Man: las flechas eligen el lado, Enter confirma, ESC cancela.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VOID </a:t>
            </a:r>
            <a:r>
              <a:rPr lang="en-US" sz="2000" noProof="1">
                <a:latin typeface="Abadi" panose="020B0604020104020204" pitchFamily="34" charset="0"/>
              </a:rPr>
              <a:t>_handleGhostPvPInput()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noProof="1">
                <a:latin typeface="Abadi" panose="020B0604020104020204" pitchFamily="34" charset="0"/>
              </a:rPr>
              <a:t>Fantasma humano: WASD mueve (termina turno), M para muro, Tab para pasar.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VOID </a:t>
            </a:r>
            <a:r>
              <a:rPr lang="en-US" sz="2000" noProof="1">
                <a:latin typeface="Abadi" panose="020B0604020104020204" pitchFamily="34" charset="0"/>
              </a:rPr>
              <a:t>input_config()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Togglea modo, fantasmas on/off, dificultad por fantasma y cantidades de muros.</a:t>
            </a:r>
          </a:p>
          <a:p>
            <a:pPr>
              <a:lnSpc>
                <a:spcPct val="100000"/>
              </a:lnSpc>
            </a:pPr>
            <a:r>
              <a:rPr lang="en-US" sz="2000" b="1" noProof="1">
                <a:solidFill>
                  <a:schemeClr val="tx2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VOID </a:t>
            </a:r>
            <a:r>
              <a:rPr lang="en-US" sz="2000" noProof="1">
                <a:latin typeface="Abadi" panose="020B0604020104020204" pitchFamily="34" charset="0"/>
              </a:rPr>
              <a:t>input_editor()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Cursor, tamaño del tablero, colocación de fichas y muros, y guardado por nombre.</a:t>
            </a:r>
          </a:p>
          <a:p>
            <a:pPr>
              <a:lnSpc>
                <a:spcPct val="100000"/>
              </a:lnSpc>
            </a:pPr>
            <a:r>
              <a:rPr lang="es-ES" sz="2000" noProof="1">
                <a:latin typeface="Abadi" panose="020B0604020104020204" pitchFamily="34" charset="0"/>
              </a:rPr>
              <a:t>input_menu / mapSelect / gameover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noProof="1">
                <a:latin typeface="Abadi" panose="020B0604020104020204" pitchFamily="34" charset="0"/>
              </a:rPr>
              <a:t>Navegación entre pantallas y reinicio de la partida con R.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noProof="1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738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14648-E852-FF69-3091-6132AD414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s-PY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129137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</Words>
  <Application>Microsoft Office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Abadi</vt:lpstr>
      <vt:lpstr>ADLaM Display</vt:lpstr>
      <vt:lpstr>Aptos</vt:lpstr>
      <vt:lpstr>Aptos Display</vt:lpstr>
      <vt:lpstr>Arial</vt:lpstr>
      <vt:lpstr>Courier New</vt:lpstr>
      <vt:lpstr>Office Theme</vt:lpstr>
      <vt:lpstr>QUORIDOR PAC-MAN</vt:lpstr>
      <vt:lpstr>Tabla de Contenido</vt:lpstr>
      <vt:lpstr>Componentes y Datos</vt:lpstr>
      <vt:lpstr>Lógica del Juego</vt:lpstr>
      <vt:lpstr>Gestión de Muros</vt:lpstr>
      <vt:lpstr>Inteligencia Artificial</vt:lpstr>
      <vt:lpstr>Interfaz y Visualizacion</vt:lpstr>
      <vt:lpstr>Mapas y Persistencia</vt:lpstr>
      <vt:lpstr>Control de Entrada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Heidebercht</dc:creator>
  <cp:lastModifiedBy>Lucas Heidebercht</cp:lastModifiedBy>
  <cp:revision>1</cp:revision>
  <dcterms:created xsi:type="dcterms:W3CDTF">2026-06-25T11:57:06Z</dcterms:created>
  <dcterms:modified xsi:type="dcterms:W3CDTF">2026-06-25T16:23:32Z</dcterms:modified>
</cp:coreProperties>
</file>